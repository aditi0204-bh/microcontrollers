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nva Sans" panose="020B0604020202020204" charset="0"/>
      <p:regular r:id="rId10"/>
    </p:embeddedFont>
    <p:embeddedFont>
      <p:font typeface="TT Rounds Condensed" panose="020B0604020202020204" charset="0"/>
      <p:regular r:id="rId11"/>
    </p:embeddedFont>
    <p:embeddedFont>
      <p:font typeface="TT Rounds Condensed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02EC7-2DDF-469D-9428-22B73ED7B22F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3A650-4DD5-427D-A56C-7BF28C78E9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17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3A650-4DD5-427D-A56C-7BF28C78E98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06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77440" y="495778"/>
            <a:ext cx="13533120" cy="2306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8"/>
              </a:lnSpc>
            </a:pPr>
            <a:r>
              <a:rPr lang="en-US" sz="8100" spc="-4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User Manual</a:t>
            </a:r>
          </a:p>
          <a:p>
            <a:pPr algn="ctr">
              <a:lnSpc>
                <a:spcPts val="8748"/>
              </a:lnSpc>
            </a:pPr>
            <a:endParaRPr lang="en-US" sz="8100" spc="-49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141696" y="2762727"/>
            <a:ext cx="13533120" cy="4425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2"/>
              </a:lnSpc>
            </a:pPr>
            <a:r>
              <a:rPr lang="en-US" sz="5400" spc="50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Sensor Name :</a:t>
            </a:r>
          </a:p>
          <a:p>
            <a:pPr algn="ctr">
              <a:lnSpc>
                <a:spcPts val="5832"/>
              </a:lnSpc>
            </a:pPr>
            <a:r>
              <a:rPr lang="en-US" sz="5400" b="1" u="sng" spc="50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Body pH Sensor </a:t>
            </a:r>
          </a:p>
          <a:p>
            <a:pPr algn="ctr">
              <a:lnSpc>
                <a:spcPts val="5832"/>
              </a:lnSpc>
            </a:pPr>
            <a:endParaRPr lang="en-US" sz="5400" b="1" u="sng" spc="50" dirty="0">
              <a:solidFill>
                <a:srgbClr val="000000"/>
              </a:solidFill>
              <a:latin typeface="TT Rounds Condensed Bold"/>
              <a:ea typeface="TT Rounds Condensed Bold"/>
              <a:cs typeface="TT Rounds Condensed Bold"/>
              <a:sym typeface="TT Rounds Condensed Bold"/>
            </a:endParaRPr>
          </a:p>
          <a:p>
            <a:pPr algn="ctr">
              <a:lnSpc>
                <a:spcPts val="5832"/>
              </a:lnSpc>
            </a:pPr>
            <a:r>
              <a:rPr lang="en-US" sz="5400" spc="50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Presented by :</a:t>
            </a:r>
          </a:p>
          <a:p>
            <a:pPr algn="ctr">
              <a:lnSpc>
                <a:spcPts val="5832"/>
              </a:lnSpc>
            </a:pPr>
            <a:r>
              <a:rPr lang="en-US" sz="5400" b="1" u="sng" spc="50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Aditi Bhale -  32204</a:t>
            </a:r>
          </a:p>
          <a:p>
            <a:pPr algn="ctr">
              <a:lnSpc>
                <a:spcPts val="5832"/>
              </a:lnSpc>
            </a:pPr>
            <a:endParaRPr lang="en-US" sz="5400" b="1" u="sng" spc="50" dirty="0">
              <a:solidFill>
                <a:srgbClr val="000000"/>
              </a:solidFill>
              <a:latin typeface="TT Rounds Condensed Bold"/>
              <a:ea typeface="TT Rounds Condensed Bold"/>
              <a:cs typeface="TT Rounds Condensed Bold"/>
              <a:sym typeface="TT Rounds Condensed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39996" y="364334"/>
            <a:ext cx="967348" cy="1315593"/>
          </a:xfrm>
          <a:custGeom>
            <a:avLst/>
            <a:gdLst/>
            <a:ahLst/>
            <a:cxnLst/>
            <a:rect l="l" t="t" r="r" b="b"/>
            <a:pathLst>
              <a:path w="967348" h="1315593">
                <a:moveTo>
                  <a:pt x="0" y="0"/>
                </a:moveTo>
                <a:lnTo>
                  <a:pt x="967348" y="0"/>
                </a:lnTo>
                <a:lnTo>
                  <a:pt x="967348" y="1315592"/>
                </a:lnTo>
                <a:lnTo>
                  <a:pt x="0" y="1315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8740" y="493683"/>
            <a:ext cx="15590520" cy="1142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8"/>
              </a:lnSpc>
            </a:pPr>
            <a:r>
              <a:rPr lang="en-US" sz="8100" b="1" u="sng" spc="-49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Body pH Sensor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5775" y="2724627"/>
            <a:ext cx="10222117" cy="814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6"/>
              </a:lnSpc>
            </a:pPr>
            <a:r>
              <a:rPr lang="en-US" sz="4510" b="1" u="sng" spc="42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Model No.</a:t>
            </a:r>
            <a:r>
              <a:rPr lang="en-US" sz="4510" b="1" spc="42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:</a:t>
            </a:r>
            <a:r>
              <a:rPr lang="en-US" sz="4510" spc="42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US100</a:t>
            </a:r>
          </a:p>
          <a:p>
            <a:pPr algn="l">
              <a:lnSpc>
                <a:spcPts val="3084"/>
              </a:lnSpc>
            </a:pPr>
            <a:endParaRPr lang="en-US" sz="4510" spc="42" dirty="0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  <a:p>
            <a:pPr algn="l">
              <a:lnSpc>
                <a:spcPts val="3414"/>
              </a:lnSpc>
            </a:pPr>
            <a:r>
              <a:rPr lang="en-US" sz="3952" b="1" u="sng" spc="35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Uses of Urea Sensor</a:t>
            </a:r>
            <a:r>
              <a:rPr lang="en-US" sz="3952" b="1" spc="35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:</a:t>
            </a:r>
          </a:p>
          <a:p>
            <a:pPr algn="l">
              <a:lnSpc>
                <a:spcPts val="3414"/>
              </a:lnSpc>
            </a:pPr>
            <a:endParaRPr lang="en-US" sz="3952" b="1" spc="35" dirty="0">
              <a:solidFill>
                <a:srgbClr val="000000"/>
              </a:solidFill>
              <a:latin typeface="TT Rounds Condensed Bold"/>
              <a:ea typeface="TT Rounds Condensed Bold"/>
              <a:cs typeface="TT Rounds Condensed Bold"/>
              <a:sym typeface="TT Rounds Condensed Bold"/>
            </a:endParaRPr>
          </a:p>
          <a:p>
            <a:pPr marL="646081" lvl="1" indent="-323040" algn="l">
              <a:lnSpc>
                <a:spcPts val="3084"/>
              </a:lnSpc>
              <a:buFont typeface="Arial"/>
              <a:buChar char="•"/>
            </a:pPr>
            <a:r>
              <a:rPr lang="en-US" sz="3570" spc="32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Blood pH Monitoring : used in medical devices to monitor blood pH levels in patients, helping to detect conditions like acidosis or alkalosis, which can indicate respiratory or metabolic disorders.</a:t>
            </a:r>
          </a:p>
          <a:p>
            <a:pPr marL="646081" lvl="1" indent="-323040" algn="l">
              <a:lnSpc>
                <a:spcPts val="3084"/>
              </a:lnSpc>
              <a:buFont typeface="Arial"/>
              <a:buChar char="•"/>
            </a:pPr>
            <a:r>
              <a:rPr lang="en-US" sz="3570" spc="32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Urine pH Testing: </a:t>
            </a:r>
            <a:r>
              <a:rPr lang="en-US" sz="3600" dirty="0"/>
              <a:t>used to measure the acidity or alkalinity of urine, which can help diagnose kidney stones, urinary tract infections, or other metabolic conditions. </a:t>
            </a:r>
          </a:p>
          <a:p>
            <a:pPr marL="646081" lvl="1" indent="-323040" algn="l">
              <a:lnSpc>
                <a:spcPts val="3084"/>
              </a:lnSpc>
              <a:buFont typeface="Arial"/>
              <a:buChar char="•"/>
            </a:pPr>
            <a:r>
              <a:rPr lang="en-US" sz="3570" spc="32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Wound Healing: monitor the pH levels of wounds, helping healthcare professionals assess healing progress and detect potential infections.</a:t>
            </a:r>
          </a:p>
          <a:p>
            <a:pPr marL="646081" lvl="1" indent="-323040" algn="l">
              <a:lnSpc>
                <a:spcPts val="3084"/>
              </a:lnSpc>
              <a:buFont typeface="Arial"/>
              <a:buChar char="•"/>
            </a:pPr>
            <a:r>
              <a:rPr lang="en-US" sz="3570" spc="32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Digestive Health: used in the gastrointestinal tract, particularly in diagnosing acid reflux (GERD) by measuring the acidity levels in the esophagus over time..</a:t>
            </a:r>
          </a:p>
          <a:p>
            <a:pPr algn="l">
              <a:lnSpc>
                <a:spcPts val="3084"/>
              </a:lnSpc>
            </a:pPr>
            <a:endParaRPr lang="en-US" sz="3570" spc="32" dirty="0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39996" y="364334"/>
            <a:ext cx="967348" cy="1315593"/>
          </a:xfrm>
          <a:custGeom>
            <a:avLst/>
            <a:gdLst/>
            <a:ahLst/>
            <a:cxnLst/>
            <a:rect l="l" t="t" r="r" b="b"/>
            <a:pathLst>
              <a:path w="967348" h="1315593">
                <a:moveTo>
                  <a:pt x="0" y="0"/>
                </a:moveTo>
                <a:lnTo>
                  <a:pt x="967348" y="0"/>
                </a:lnTo>
                <a:lnTo>
                  <a:pt x="967348" y="1315592"/>
                </a:lnTo>
                <a:lnTo>
                  <a:pt x="0" y="1315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59FB08-300A-1487-70B5-DF7D17D7F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199" y="3770474"/>
            <a:ext cx="5564025" cy="5564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13135" y="537307"/>
            <a:ext cx="14726126" cy="1142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8"/>
              </a:lnSpc>
            </a:pPr>
            <a:r>
              <a:rPr lang="en-US" sz="8100" b="1" u="sng" spc="75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Features of Body pH Sensor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48740" y="2898458"/>
            <a:ext cx="15590520" cy="7276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8960" lvl="1" indent="-289480" algn="l">
              <a:lnSpc>
                <a:spcPts val="3113"/>
              </a:lnSpc>
              <a:buFont typeface="Arial"/>
              <a:buChar char="•"/>
            </a:pPr>
            <a:r>
              <a:rPr lang="en-US" sz="3603" spc="32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Real-time monitoring of pH levels in bodily fluids</a:t>
            </a:r>
          </a:p>
          <a:p>
            <a:pPr marL="578960" lvl="1" indent="-289480" algn="l">
              <a:lnSpc>
                <a:spcPts val="3113"/>
              </a:lnSpc>
              <a:buFont typeface="Arial"/>
              <a:buChar char="•"/>
            </a:pPr>
            <a:r>
              <a:rPr lang="en-US" sz="3603" spc="32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High accuracy for detecting small variations in acidity and alkalinity.</a:t>
            </a:r>
          </a:p>
          <a:p>
            <a:pPr marL="578960" lvl="1" indent="-289480" algn="l">
              <a:lnSpc>
                <a:spcPts val="3113"/>
              </a:lnSpc>
              <a:buFont typeface="Arial"/>
              <a:buChar char="•"/>
            </a:pPr>
            <a:r>
              <a:rPr lang="en-US" sz="3603" spc="32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Compatibility with biosensor platforms for medical and industrial use.</a:t>
            </a:r>
          </a:p>
          <a:p>
            <a:pPr marL="578960" lvl="1" indent="-289480" algn="l">
              <a:lnSpc>
                <a:spcPts val="3113"/>
              </a:lnSpc>
              <a:buFont typeface="Arial"/>
              <a:buChar char="•"/>
            </a:pPr>
            <a:r>
              <a:rPr lang="en-US" sz="3603" spc="33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Portable design for field or point-of-care testing.</a:t>
            </a:r>
          </a:p>
          <a:p>
            <a:pPr marL="635349" lvl="1" indent="-317674" algn="l">
              <a:lnSpc>
                <a:spcPts val="3414"/>
              </a:lnSpc>
            </a:pPr>
            <a:endParaRPr lang="en-US" sz="3603" spc="33" dirty="0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  <a:p>
            <a:pPr algn="l">
              <a:lnSpc>
                <a:spcPts val="3414"/>
              </a:lnSpc>
            </a:pPr>
            <a:r>
              <a:rPr lang="en-US" sz="3952" b="1" u="sng" spc="35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Cost </a:t>
            </a:r>
            <a:r>
              <a:rPr lang="en-US" sz="3952" b="1" spc="35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:</a:t>
            </a:r>
            <a:r>
              <a:rPr lang="en-US" sz="4000" dirty="0"/>
              <a:t>The cost of body pH sensors typically ranges from $5 for basic strips to over $1,000 for advanced wearable models.</a:t>
            </a:r>
          </a:p>
          <a:p>
            <a:pPr algn="l">
              <a:lnSpc>
                <a:spcPts val="3414"/>
              </a:lnSpc>
            </a:pPr>
            <a:endParaRPr lang="en-US" sz="3952" spc="35" dirty="0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  <a:p>
            <a:pPr algn="l">
              <a:lnSpc>
                <a:spcPts val="3414"/>
              </a:lnSpc>
            </a:pPr>
            <a:r>
              <a:rPr lang="en-US" sz="3952" b="1" u="sng" spc="35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Availability </a:t>
            </a:r>
            <a:r>
              <a:rPr lang="en-US" sz="3952" b="1" spc="35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: </a:t>
            </a:r>
          </a:p>
          <a:p>
            <a:pPr algn="l">
              <a:lnSpc>
                <a:spcPts val="3414"/>
              </a:lnSpc>
            </a:pPr>
            <a:endParaRPr lang="en-US" sz="3952" b="1" spc="35" dirty="0">
              <a:solidFill>
                <a:srgbClr val="000000"/>
              </a:solidFill>
              <a:latin typeface="TT Rounds Condensed Bold"/>
              <a:ea typeface="TT Rounds Condensed Bold"/>
              <a:cs typeface="TT Rounds Condensed Bold"/>
              <a:sym typeface="TT Rounds Condensed Bold"/>
            </a:endParaRPr>
          </a:p>
          <a:p>
            <a:pPr marL="853345" lvl="1" indent="-426672" algn="l">
              <a:lnSpc>
                <a:spcPts val="3414"/>
              </a:lnSpc>
              <a:buFont typeface="Arial"/>
              <a:buChar char="•"/>
            </a:pPr>
            <a:r>
              <a:rPr lang="en-US" sz="3952" spc="35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Online retailers: from various e-commerce platforms</a:t>
            </a:r>
          </a:p>
          <a:p>
            <a:pPr marL="853345" lvl="1" indent="-426672" algn="l">
              <a:lnSpc>
                <a:spcPts val="3414"/>
              </a:lnSpc>
              <a:buFont typeface="Arial"/>
              <a:buChar char="•"/>
            </a:pPr>
            <a:r>
              <a:rPr lang="en-US" sz="3952" spc="35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Can be purchased from biomedical and industrial sensor manufacturers or online</a:t>
            </a:r>
          </a:p>
          <a:p>
            <a:pPr marL="853345" lvl="1" indent="-426672" algn="l">
              <a:lnSpc>
                <a:spcPts val="3414"/>
              </a:lnSpc>
              <a:buFont typeface="Arial"/>
              <a:buChar char="•"/>
            </a:pPr>
            <a:r>
              <a:rPr lang="en-US" sz="3952" spc="35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Medical supply stores have pH sensors for clinical use</a:t>
            </a:r>
          </a:p>
          <a:p>
            <a:pPr algn="l">
              <a:lnSpc>
                <a:spcPts val="3414"/>
              </a:lnSpc>
            </a:pPr>
            <a:endParaRPr lang="en-US" sz="3952" spc="35" dirty="0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  <a:p>
            <a:pPr marL="635349" lvl="1" indent="-317674" algn="l">
              <a:lnSpc>
                <a:spcPts val="3414"/>
              </a:lnSpc>
            </a:pPr>
            <a:endParaRPr lang="en-US" sz="3952" spc="35" dirty="0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  <a:p>
            <a:pPr marL="635349" lvl="1" indent="-317674" algn="l">
              <a:lnSpc>
                <a:spcPts val="3414"/>
              </a:lnSpc>
            </a:pPr>
            <a:endParaRPr lang="en-US" sz="3952" spc="35" dirty="0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39996" y="364334"/>
            <a:ext cx="967348" cy="1315593"/>
          </a:xfrm>
          <a:custGeom>
            <a:avLst/>
            <a:gdLst/>
            <a:ahLst/>
            <a:cxnLst/>
            <a:rect l="l" t="t" r="r" b="b"/>
            <a:pathLst>
              <a:path w="967348" h="1315593">
                <a:moveTo>
                  <a:pt x="0" y="0"/>
                </a:moveTo>
                <a:lnTo>
                  <a:pt x="967348" y="0"/>
                </a:lnTo>
                <a:lnTo>
                  <a:pt x="967348" y="1315592"/>
                </a:lnTo>
                <a:lnTo>
                  <a:pt x="0" y="1315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8740" y="478823"/>
            <a:ext cx="15590520" cy="1142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8"/>
              </a:lnSpc>
            </a:pPr>
            <a:r>
              <a:rPr lang="en-US" sz="8100" b="1" u="sng" spc="75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Working of Body pH Sensor</a:t>
            </a:r>
          </a:p>
        </p:txBody>
      </p:sp>
      <p:sp>
        <p:nvSpPr>
          <p:cNvPr id="3" name="Freeform 3"/>
          <p:cNvSpPr/>
          <p:nvPr/>
        </p:nvSpPr>
        <p:spPr>
          <a:xfrm>
            <a:off x="639996" y="364334"/>
            <a:ext cx="967348" cy="1315593"/>
          </a:xfrm>
          <a:custGeom>
            <a:avLst/>
            <a:gdLst/>
            <a:ahLst/>
            <a:cxnLst/>
            <a:rect l="l" t="t" r="r" b="b"/>
            <a:pathLst>
              <a:path w="967348" h="1315593">
                <a:moveTo>
                  <a:pt x="0" y="0"/>
                </a:moveTo>
                <a:lnTo>
                  <a:pt x="967348" y="0"/>
                </a:lnTo>
                <a:lnTo>
                  <a:pt x="967348" y="1315592"/>
                </a:lnTo>
                <a:lnTo>
                  <a:pt x="0" y="1315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818886" y="4747577"/>
            <a:ext cx="7841038" cy="4783033"/>
          </a:xfrm>
          <a:custGeom>
            <a:avLst/>
            <a:gdLst/>
            <a:ahLst/>
            <a:cxnLst/>
            <a:rect l="l" t="t" r="r" b="b"/>
            <a:pathLst>
              <a:path w="7841038" h="4783033">
                <a:moveTo>
                  <a:pt x="0" y="0"/>
                </a:moveTo>
                <a:lnTo>
                  <a:pt x="7841038" y="0"/>
                </a:lnTo>
                <a:lnTo>
                  <a:pt x="7841038" y="4783034"/>
                </a:lnTo>
                <a:lnTo>
                  <a:pt x="0" y="47830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326899" y="2090291"/>
            <a:ext cx="14335590" cy="1937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8299" lvl="1" indent="-264149" algn="l">
              <a:lnSpc>
                <a:spcPts val="2522"/>
              </a:lnSpc>
            </a:pPr>
            <a:r>
              <a:rPr lang="en-US" sz="2919" spc="26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  The body pH sensor operates by using a glass electrode that interacts with hydrogen ions in the body fluid. This interaction generates a small electrical potential that is proportional to the pH </a:t>
            </a:r>
            <a:r>
              <a:rPr lang="en-US" sz="2919" spc="26" dirty="0" err="1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level.The</a:t>
            </a:r>
            <a:r>
              <a:rPr lang="en-US" sz="2919" spc="26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sensor's transducer converts this potential into an electrical signal, which is then processed by a microcontroller to determine the pH </a:t>
            </a:r>
            <a:r>
              <a:rPr lang="en-US" sz="2919" spc="26" dirty="0" err="1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value.The</a:t>
            </a:r>
            <a:r>
              <a:rPr lang="en-US" sz="2919" spc="26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processed data is transmitted to a display device or smartphone app in real-time, allowing users to monitor their body’s acidity or alkalinity.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639996" y="4345198"/>
            <a:ext cx="8317296" cy="6127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452" lvl="1" indent="-244226" algn="l">
              <a:lnSpc>
                <a:spcPts val="3167"/>
              </a:lnSpc>
              <a:buAutoNum type="arabicPeriod"/>
            </a:pPr>
            <a:r>
              <a:rPr lang="en-US" sz="226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Sample Introduction: The bodily fluid sample (e.g., blood, saliva, or urine) is introduced to the pH sensor.</a:t>
            </a:r>
          </a:p>
          <a:p>
            <a:pPr marL="488452" lvl="1" indent="-244226" algn="l">
              <a:lnSpc>
                <a:spcPts val="3167"/>
              </a:lnSpc>
              <a:buAutoNum type="arabicPeriod"/>
            </a:pPr>
            <a:r>
              <a:rPr lang="en-US" sz="226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Electrode Interaction: The sample interacts with a specialized glass electrode that is sensitive to hydrogen ion concentration.</a:t>
            </a:r>
          </a:p>
          <a:p>
            <a:pPr marL="488452" lvl="1" indent="-244226" algn="l">
              <a:lnSpc>
                <a:spcPts val="3167"/>
              </a:lnSpc>
              <a:buAutoNum type="arabicPeriod"/>
            </a:pPr>
            <a:r>
              <a:rPr lang="en-US" sz="226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Ion exchange:  The glass electrode allows hydrogen ions to diffuse through its surface, generating a potential difference based on the pH level of the sample.</a:t>
            </a:r>
          </a:p>
          <a:p>
            <a:pPr marL="488452" lvl="1" indent="-244226" algn="l">
              <a:lnSpc>
                <a:spcPts val="3167"/>
              </a:lnSpc>
              <a:buAutoNum type="arabicPeriod"/>
            </a:pPr>
            <a:r>
              <a:rPr lang="en-US" sz="226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b="1" dirty="0"/>
              <a:t>Signal Detection</a:t>
            </a:r>
            <a:r>
              <a:rPr lang="en-US" sz="2400" dirty="0"/>
              <a:t>: The generated potential difference is detected and measured as an electrical signal by the sensor's transducer. </a:t>
            </a:r>
          </a:p>
          <a:p>
            <a:pPr marL="488452" lvl="1" indent="-244226" algn="l">
              <a:lnSpc>
                <a:spcPts val="3167"/>
              </a:lnSpc>
              <a:buAutoNum type="arabicPeriod"/>
            </a:pPr>
            <a:r>
              <a:rPr lang="en-US" sz="226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Signal Transduction: This electrical signal is converted into a digital format for processing.</a:t>
            </a:r>
          </a:p>
          <a:p>
            <a:pPr marL="488452" lvl="1" indent="-244226" algn="l">
              <a:lnSpc>
                <a:spcPts val="3167"/>
              </a:lnSpc>
              <a:buAutoNum type="arabicPeriod"/>
            </a:pPr>
            <a:r>
              <a:rPr lang="en-US" sz="226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</a:t>
            </a:r>
            <a:r>
              <a:rPr lang="en-US" sz="2262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Processing:The</a:t>
            </a:r>
            <a:r>
              <a:rPr lang="en-US" sz="226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signal is processed by a microcontroller to determine the pH level of the sample.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27408" y="707995"/>
            <a:ext cx="14811851" cy="971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52"/>
              </a:lnSpc>
            </a:pPr>
            <a:r>
              <a:rPr lang="en-US" sz="6900" b="1" u="sng" spc="64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Description of Urea Sensor’s Elements</a:t>
            </a:r>
            <a:r>
              <a:rPr lang="en-US" sz="6900" b="1" spc="64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9454" y="2517456"/>
            <a:ext cx="17395671" cy="637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867" lvl="1" indent="-326434" algn="l">
              <a:lnSpc>
                <a:spcPts val="3116"/>
              </a:lnSpc>
              <a:buFont typeface="Arial"/>
              <a:buChar char="•"/>
            </a:pPr>
            <a:r>
              <a:rPr lang="en-US" sz="3607" b="1" u="sng" spc="32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Sensing Layer</a:t>
            </a:r>
            <a:r>
              <a:rPr lang="en-US" sz="3607" b="1" spc="32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:</a:t>
            </a:r>
            <a:r>
              <a:rPr lang="en-US" sz="4000" dirty="0"/>
              <a:t>Composed of a glass electrode that interacts with hydrogen ions in the bodily fluid to produce a measurable potential difference.</a:t>
            </a:r>
            <a:endParaRPr lang="en-US" sz="3607" spc="32" dirty="0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  <a:p>
            <a:pPr marL="652867" lvl="1" indent="-326434" algn="l">
              <a:lnSpc>
                <a:spcPts val="3116"/>
              </a:lnSpc>
              <a:buFont typeface="Arial"/>
              <a:buChar char="•"/>
            </a:pPr>
            <a:r>
              <a:rPr lang="en-US" sz="3607" b="1" u="sng" spc="32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Transducer</a:t>
            </a:r>
            <a:r>
              <a:rPr lang="en-US" sz="3607" b="1" spc="32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:</a:t>
            </a:r>
            <a:r>
              <a:rPr lang="en-US" sz="4000" dirty="0"/>
              <a:t>Converts the potential difference (pH change) into an electrical signal for further analysis.</a:t>
            </a:r>
            <a:endParaRPr lang="en-US" sz="3607" spc="32" dirty="0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  <a:p>
            <a:pPr marL="652867" lvl="1" indent="-326434" algn="l">
              <a:lnSpc>
                <a:spcPts val="3116"/>
              </a:lnSpc>
              <a:buFont typeface="Arial"/>
              <a:buChar char="•"/>
            </a:pPr>
            <a:r>
              <a:rPr lang="en-US" sz="3607" b="1" u="sng" spc="32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ADC (Analog to Digital Converter)</a:t>
            </a:r>
            <a:r>
              <a:rPr lang="en-US" sz="3607" b="1" spc="32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: </a:t>
            </a:r>
            <a:r>
              <a:rPr lang="en-US" sz="3607" spc="32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Converts the electrical signal into digital format for processing.</a:t>
            </a:r>
          </a:p>
          <a:p>
            <a:pPr algn="l">
              <a:lnSpc>
                <a:spcPts val="3116"/>
              </a:lnSpc>
            </a:pPr>
            <a:endParaRPr lang="en-US" sz="3607" spc="32" dirty="0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  <a:p>
            <a:pPr marL="652867" lvl="1" indent="-326434" algn="l">
              <a:lnSpc>
                <a:spcPts val="3116"/>
              </a:lnSpc>
              <a:buFont typeface="Arial"/>
              <a:buChar char="•"/>
            </a:pPr>
            <a:r>
              <a:rPr lang="en-US" sz="3607" b="1" u="sng" spc="32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Microcontroller</a:t>
            </a:r>
            <a:r>
              <a:rPr lang="en-US" sz="3607" b="1" spc="32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:</a:t>
            </a:r>
            <a:r>
              <a:rPr lang="en-US" sz="3607" spc="32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Analyzes the signal and determines the concentration of urea in the sample.</a:t>
            </a:r>
          </a:p>
          <a:p>
            <a:pPr algn="l">
              <a:lnSpc>
                <a:spcPts val="3116"/>
              </a:lnSpc>
            </a:pPr>
            <a:endParaRPr lang="en-US" sz="3607" spc="32" dirty="0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  <a:p>
            <a:pPr marL="652867" lvl="1" indent="-326434" algn="l">
              <a:lnSpc>
                <a:spcPts val="3116"/>
              </a:lnSpc>
              <a:buFont typeface="Arial"/>
              <a:buChar char="•"/>
            </a:pPr>
            <a:r>
              <a:rPr lang="en-US" sz="3607" b="1" u="sng" spc="32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Power Source: </a:t>
            </a:r>
            <a:r>
              <a:rPr lang="en-US" sz="4000" dirty="0"/>
              <a:t>Can be powered by a battery, rechargeable lithium-ion, or USB power, depending on the design of the sensor.</a:t>
            </a:r>
          </a:p>
          <a:p>
            <a:pPr marL="652867" lvl="1" indent="-326434" algn="l">
              <a:lnSpc>
                <a:spcPts val="3116"/>
              </a:lnSpc>
              <a:buFont typeface="Arial"/>
              <a:buChar char="•"/>
            </a:pPr>
            <a:endParaRPr lang="en-US" sz="3607" spc="32" dirty="0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  <a:p>
            <a:pPr marL="652867" lvl="1" indent="-326434">
              <a:lnSpc>
                <a:spcPts val="3116"/>
              </a:lnSpc>
              <a:buFont typeface="Arial"/>
              <a:buChar char="•"/>
            </a:pPr>
            <a:r>
              <a:rPr lang="en-US" sz="3607" b="1" u="sng" spc="32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Transmitter</a:t>
            </a:r>
            <a:r>
              <a:rPr lang="en-US" sz="3607" spc="32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607" b="1" spc="32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:</a:t>
            </a:r>
            <a:r>
              <a:rPr lang="en-US" sz="4000" dirty="0"/>
              <a:t>Communicates the processed pH data wirelessly via Bluetooth or Wi-Fi to external devices or apps for real-time monitoring and logging.</a:t>
            </a:r>
          </a:p>
          <a:p>
            <a:pPr marL="652867" lvl="1" indent="-326434" algn="l">
              <a:lnSpc>
                <a:spcPts val="3116"/>
              </a:lnSpc>
              <a:buFont typeface="Arial"/>
              <a:buChar char="•"/>
            </a:pPr>
            <a:endParaRPr lang="en-US" sz="3607" spc="32" dirty="0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39996" y="364334"/>
            <a:ext cx="967348" cy="1315593"/>
          </a:xfrm>
          <a:custGeom>
            <a:avLst/>
            <a:gdLst/>
            <a:ahLst/>
            <a:cxnLst/>
            <a:rect l="l" t="t" r="r" b="b"/>
            <a:pathLst>
              <a:path w="967348" h="1315593">
                <a:moveTo>
                  <a:pt x="0" y="0"/>
                </a:moveTo>
                <a:lnTo>
                  <a:pt x="967348" y="0"/>
                </a:lnTo>
                <a:lnTo>
                  <a:pt x="967348" y="1315592"/>
                </a:lnTo>
                <a:lnTo>
                  <a:pt x="0" y="1315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13247" y="1105805"/>
            <a:ext cx="13826013" cy="938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 u="sng" spc="61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Description of  the User Interface</a:t>
            </a:r>
            <a:r>
              <a:rPr lang="en-US" sz="6600" b="1" spc="61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01766" y="2977705"/>
            <a:ext cx="13284467" cy="6594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/>
              <a:t>Wearable or Handheld Sensor</a:t>
            </a:r>
            <a:r>
              <a:rPr lang="en-US" sz="3600" dirty="0"/>
              <a:t>: A compact device designed for easy sample collection and measurement of pH levels in bodily fluids.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/>
              <a:t>Receiver Device</a:t>
            </a:r>
            <a:r>
              <a:rPr lang="en-US" sz="3600" dirty="0"/>
              <a:t>: A smartphone, computer, or dedicated monitor that displays real-time pH readings for user convenience.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/>
              <a:t>Graphical Representations</a:t>
            </a:r>
            <a:r>
              <a:rPr lang="en-US" sz="3600" dirty="0"/>
              <a:t>: Visual graphs showing pH trends over time for in-depth analysis and tracking of changes.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/>
              <a:t>Alerts and Alarms</a:t>
            </a:r>
            <a:r>
              <a:rPr lang="en-US" sz="3600" dirty="0"/>
              <a:t>: Notifications for abnormal pH levels, prompting users to take necessary 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/>
              <a:t>Data Storage and Analysis Features</a:t>
            </a:r>
            <a:r>
              <a:rPr lang="en-US" sz="3600" dirty="0"/>
              <a:t>: Capabilities for long-term monitoring, storing historical data, and generating reports for health assessments.</a:t>
            </a:r>
          </a:p>
          <a:p>
            <a:pPr algn="l">
              <a:lnSpc>
                <a:spcPts val="3888"/>
              </a:lnSpc>
            </a:pPr>
            <a:endParaRPr lang="en-US" sz="3600" spc="33" dirty="0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39996" y="364334"/>
            <a:ext cx="967348" cy="1315593"/>
          </a:xfrm>
          <a:custGeom>
            <a:avLst/>
            <a:gdLst/>
            <a:ahLst/>
            <a:cxnLst/>
            <a:rect l="l" t="t" r="r" b="b"/>
            <a:pathLst>
              <a:path w="967348" h="1315593">
                <a:moveTo>
                  <a:pt x="0" y="0"/>
                </a:moveTo>
                <a:lnTo>
                  <a:pt x="967348" y="0"/>
                </a:lnTo>
                <a:lnTo>
                  <a:pt x="967348" y="1315592"/>
                </a:lnTo>
                <a:lnTo>
                  <a:pt x="0" y="1315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8740" y="2879408"/>
            <a:ext cx="15590520" cy="6340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endParaRPr/>
          </a:p>
          <a:p>
            <a:pPr algn="ctr">
              <a:lnSpc>
                <a:spcPts val="9720"/>
              </a:lnSpc>
            </a:pPr>
            <a:r>
              <a:rPr lang="en-US" sz="9000" spc="84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THANK YOU !!!</a:t>
            </a:r>
          </a:p>
        </p:txBody>
      </p:sp>
      <p:sp>
        <p:nvSpPr>
          <p:cNvPr id="3" name="Freeform 3"/>
          <p:cNvSpPr/>
          <p:nvPr/>
        </p:nvSpPr>
        <p:spPr>
          <a:xfrm>
            <a:off x="639996" y="364334"/>
            <a:ext cx="967348" cy="1315593"/>
          </a:xfrm>
          <a:custGeom>
            <a:avLst/>
            <a:gdLst/>
            <a:ahLst/>
            <a:cxnLst/>
            <a:rect l="l" t="t" r="r" b="b"/>
            <a:pathLst>
              <a:path w="967348" h="1315593">
                <a:moveTo>
                  <a:pt x="0" y="0"/>
                </a:moveTo>
                <a:lnTo>
                  <a:pt x="967348" y="0"/>
                </a:lnTo>
                <a:lnTo>
                  <a:pt x="967348" y="1315592"/>
                </a:lnTo>
                <a:lnTo>
                  <a:pt x="0" y="1315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692</Words>
  <Application>Microsoft Office PowerPoint</Application>
  <PresentationFormat>Custom</PresentationFormat>
  <Paragraphs>56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TT Rounds Condensed</vt:lpstr>
      <vt:lpstr>TT Rounds Condensed Bold</vt:lpstr>
      <vt:lpstr>Arial</vt:lpstr>
      <vt:lpstr>Canva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 Name : Urea Sensor Presented by Sakshi Sambhaji Shinde - 32255</dc:title>
  <dc:creator>Prasad</dc:creator>
  <cp:lastModifiedBy>Prasad Bhale</cp:lastModifiedBy>
  <cp:revision>2</cp:revision>
  <dcterms:created xsi:type="dcterms:W3CDTF">2006-08-16T00:00:00Z</dcterms:created>
  <dcterms:modified xsi:type="dcterms:W3CDTF">2024-10-08T04:44:55Z</dcterms:modified>
  <dc:identifier>DAGSoEL2ho8</dc:identifier>
</cp:coreProperties>
</file>